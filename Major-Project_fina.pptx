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7"/>
  </p:notesMasterIdLst>
  <p:sldIdLst>
    <p:sldId id="256" r:id="rId2"/>
    <p:sldId id="257" r:id="rId3"/>
    <p:sldId id="263" r:id="rId4"/>
    <p:sldId id="274" r:id="rId5"/>
    <p:sldId id="264" r:id="rId6"/>
    <p:sldId id="265" r:id="rId7"/>
    <p:sldId id="280" r:id="rId8"/>
    <p:sldId id="272" r:id="rId9"/>
    <p:sldId id="273" r:id="rId10"/>
    <p:sldId id="279" r:id="rId11"/>
    <p:sldId id="276" r:id="rId12"/>
    <p:sldId id="277" r:id="rId13"/>
    <p:sldId id="266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4713" autoAdjust="0"/>
  </p:normalViewPr>
  <p:slideViewPr>
    <p:cSldViewPr snapToGrid="0">
      <p:cViewPr varScale="1">
        <p:scale>
          <a:sx n="96" d="100"/>
          <a:sy n="96" d="100"/>
        </p:scale>
        <p:origin x="427" y="62"/>
      </p:cViewPr>
      <p:guideLst/>
    </p:cSldViewPr>
  </p:slideViewPr>
  <p:outlineViewPr>
    <p:cViewPr>
      <p:scale>
        <a:sx n="33" d="100"/>
        <a:sy n="33" d="100"/>
      </p:scale>
      <p:origin x="0" y="-169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35A86-9574-4827-A7DE-BF97932C8E0C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2E99E-FDCC-41CE-BE2A-7D29CC6E5A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272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2E99E-FDCC-41CE-BE2A-7D29CC6E5AE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84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D51A0-CF1C-2D51-D7DD-21C0EF2E5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941F6-279E-790A-7D10-8F6B9E160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2E5E3-3940-FDAF-DE9D-377A1CA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92879-E82E-D563-FF02-2E347790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B190F-3272-A078-42F5-9849199F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6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24F4D-EA9D-E2E6-14EA-5161BE41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D7F2A-7A90-F324-C415-A3519914E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072F0-F075-23C6-BC8A-0846CEAF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64FB7-8BBA-95AC-A6B4-C09FC14E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4D1D-2B40-3EAA-16F5-DF35A7B0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801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9601-ECED-DAB5-75BB-F7E76CAB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F3FE7-374C-DD07-6C46-B3641649C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E7700-7254-B347-113C-87CA9BB9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35CC8-E555-7542-9FAB-C67F10B8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78F9-5ADB-234B-CADE-A6D86E02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54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173E-B4D4-C02E-D71C-13962EDED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9919F-5415-36A1-A39A-A3A32F436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C9EEC-FF84-E50A-9BA8-CB439414B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DBF65-428E-0343-67D1-6484A3C1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29EFB-6EAC-C495-22FF-1B690F50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0C9AA-5CA2-E00E-573D-DC1743145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02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816D-819C-4821-121C-D6EDEBC17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86CF9-F859-188D-C09E-C62CA4930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A47FA-FB03-DEC0-44E9-D763D2825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B9892-5850-7239-1357-EE7E8B487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EC58-FBD9-C2F7-0EC2-C36291B0F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6EBB85-F295-6533-D608-67BCB19B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FB7D5-1935-F645-1D3C-D45A7273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A2491-0A41-C03E-1AD9-7D304013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01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B100A-B60E-C8AF-414E-FCFF0A19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6F6F5-BC4C-56BE-5170-677F87AA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8F676-3FBF-B8E4-E38F-DF8B888E3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6D4E5-B6EB-5364-98FD-0C3CEB05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34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EE1CE-7331-1E50-6C34-70B33009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D5EDE-3E9C-17E8-2797-38230ABD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09071-1B40-5179-8AD0-62FEC0A6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2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551C-3297-9A90-1205-36A1EEF7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064CB-79AD-A89A-C0D4-2ED9518E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81160-253B-0451-7D27-87818CA31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FBC91-0CB3-314B-F43D-074762640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FB339-A087-857E-2CEC-5486DD9DF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9727A-65E5-3667-7910-C6DADADC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87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9A71-9D19-AD3A-5CD0-2E2599FA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906580-36E6-C2FD-080E-F316C10037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570D4-7D2D-EBC7-AEB6-EA2A046AD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4B931-9454-273C-700F-645EA513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DC3EA-41A8-0058-7F49-3AFB5DC9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FA8ED-2C77-9179-773F-5878E318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1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2A8-E2C2-4B31-1E7A-FB2936D1D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E42A3-8C3F-5848-0704-3544756DC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F0769-B9A4-B973-7A4D-89413323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EAD43-C392-1AA2-4195-FBC324F4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9F9F0-FF18-EF03-04D0-553ABA47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05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085BC7-5E7B-6B6F-0674-AE779DA641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F53B4-43FA-A122-9313-C381920AEF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9374B-2AC9-F9F9-0BC1-3E1BC260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5D651-3B8A-1D2C-58B5-CB48CD16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83C6-00D6-B30B-5358-FF0E3A8B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25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45030-B849-3FEC-0854-A2D104DA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48A34-2B42-FB52-47E1-95DB53322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762D9-735D-1ADC-B46C-EE2B60937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1E069-C724-41FF-86C5-ADB523904AE9}" type="datetimeFigureOut">
              <a:rPr lang="en-IN" smtClean="0"/>
              <a:t>28-04-2025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5EDAB-67DB-D3B5-B117-E1CE1AF08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9B12D-BE15-B52E-AB5A-8C590F9F9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9B80A-08E9-4E14-89A4-BCA8EB9C2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2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fif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resourcecenter.ieee.org/conferences/icip-2023/spsicip23vid020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02AD-A0A9-DD3F-1E83-95BEE0E84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987" y="1458905"/>
            <a:ext cx="9144000" cy="4570953"/>
          </a:xfrm>
        </p:spPr>
        <p:txBody>
          <a:bodyPr anchor="t">
            <a:normAutofit fontScale="90000"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Multi-Label Deep Learning models for classes with Long Tail Distribution</a:t>
            </a:r>
            <a:b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&amp; Mentor :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S. Phani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</a:t>
            </a:r>
            <a:b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br>
              <a:rPr lang="en-US" sz="3200" b="1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700" b="1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Abhishek Raj (521143)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Prashant Mishra (521218)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Rakesh Yamjala (521260)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Sandeep K Aazad (521230)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37CBD48-BA48-4DEA-0D17-0E602C41F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919"/>
            <a:ext cx="12516465" cy="1433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33" name="Picture 3">
            <a:extLst>
              <a:ext uri="{FF2B5EF4-FFF2-40B4-BE49-F238E27FC236}">
                <a16:creationId xmlns:a16="http://schemas.microsoft.com/office/drawing/2014/main" id="{78D3A05B-6164-107A-03D3-1305745B7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61" y="89644"/>
            <a:ext cx="1035730" cy="911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1">
            <a:extLst>
              <a:ext uri="{FF2B5EF4-FFF2-40B4-BE49-F238E27FC236}">
                <a16:creationId xmlns:a16="http://schemas.microsoft.com/office/drawing/2014/main" id="{895DC6D7-F36D-85F8-66F5-52E9EAFB7B8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6853" y="37733"/>
            <a:ext cx="1119826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90488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  <a:tab pos="9001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904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  <a:tab pos="900113" algn="l"/>
              </a:tabLst>
            </a:pP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राष्ट्रीय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Devanagari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प्रौद्योगिकी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Devanagari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संस्थान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Devanagari"/>
                <a:ea typeface="Times New Roman" panose="02020603050405020304" pitchFamily="18" charset="0"/>
                <a:cs typeface="Mangal" panose="02040503050203030202" pitchFamily="18" charset="0"/>
              </a:rPr>
              <a:t> -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आंध्र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Devanagari"/>
                <a:ea typeface="Times New Roman" panose="02020603050405020304" pitchFamily="18" charset="0"/>
                <a:cs typeface="Mangal" panose="02040503050203030202" pitchFamily="18" charset="0"/>
              </a:rPr>
              <a:t>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Nirmala UI" panose="020B0502040204020203" pitchFamily="34" charset="0"/>
                <a:ea typeface="Times New Roman" panose="02020603050405020304" pitchFamily="18" charset="0"/>
                <a:cs typeface="Nirmala UI" panose="020B0502040204020203" pitchFamily="34" charset="0"/>
              </a:rPr>
              <a:t>प्रदेश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pPr marL="0" marR="0" lvl="0" indent="904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  <a:tab pos="900113" algn="l"/>
              </a:tabLs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ell MT" panose="020205030603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INSTITUTE OF TECHNOLOGY ANDHRA PRADESH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90488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  <a:tab pos="900113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Bell MT" panose="020205030603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TADEPALLIGUDEM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Bell MT" panose="020205030603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534102,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Bell MT" panose="020205030603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WEST GODAVARI DIST., ANDHRA PRADESH, INDIA.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4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201973-9B12-2D32-F002-9B39AD3E8F13}"/>
              </a:ext>
            </a:extLst>
          </p:cNvPr>
          <p:cNvSpPr txBox="1"/>
          <p:nvPr/>
        </p:nvSpPr>
        <p:spPr>
          <a:xfrm>
            <a:off x="965190" y="752188"/>
            <a:ext cx="2052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9170E06-21E7-9532-45A6-246E1C94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959" y="1754185"/>
            <a:ext cx="10515600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design and improve a robust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multi-label classification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Ocular Disease Intelligent Recognition (ODIR)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using self-supervised learning techniques. The project focuses on detecting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presence of multiple ocular diseases from a single retinal image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aiming to assist in early diagnosis and treatment</a:t>
            </a:r>
            <a:r>
              <a:rPr lang="en-IN" sz="2400" dirty="0"/>
              <a:t>.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CNN backbones (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VGG16, InceptionV3, ResNet50, ResNet101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were adapted with sigmoid outputs and optimized using advanced loss functions like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BCE, Dice Loss, and hybrid losses.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ResNet101 achieved the best results with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66% accuracy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0.62 macro F1-score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study highlights the importance of backbone depth, tailored loss strategies, and robust training for handling long-tail medical datasets.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24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F799-B689-99BF-A3EB-95ADC692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EB9AC-0F24-0238-B1BB-1F13D0A82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642" y="1542993"/>
            <a:ext cx="5570398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Fundus images often contain multiple diseases, making multi-label classification a critical task.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Long-tail distribution presents a challenge as some diseases appear frequently, while others are rare.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face challenges in multi-label medical image classification due to class imbalance and limited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enhance classification accuracy and generalization using deep architectures and hybrid loss functions?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6EE55-1C89-7A0E-A953-F238B07E68DF}"/>
              </a:ext>
            </a:extLst>
          </p:cNvPr>
          <p:cNvSpPr txBox="1"/>
          <p:nvPr/>
        </p:nvSpPr>
        <p:spPr>
          <a:xfrm>
            <a:off x="7193712" y="5894331"/>
            <a:ext cx="453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Long-Tail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8B73C-16C2-043E-2E5C-F55F97A60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40" y="1690688"/>
            <a:ext cx="5902959" cy="380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50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E043-AA90-F400-CC8B-C253976D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1037"/>
            <a:ext cx="9822180" cy="7397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FC75B-CE88-AC02-793E-F9211C375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" y="153606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Ocular Disease Intelligent Recognition (ODIR) is a structured ophthalmic database of 5,000 patients with age, color fundus photographs from left and right eyes, and doctors' diagnostic keywords from doctors.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Classes of ODIR Classification : 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(N),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(D),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Glaucoma (G),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Cataract (C),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related Macular Degeneration (A),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Hypertension (H),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Pathological Myopia (M),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diseases/abnormalities (O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957D65-06D7-2348-C97D-C75F878F1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" r="1279" b="7097"/>
          <a:stretch/>
        </p:blipFill>
        <p:spPr>
          <a:xfrm>
            <a:off x="5379136" y="2276255"/>
            <a:ext cx="4853924" cy="1686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0CA83B-52B7-4A66-43C1-AEFA55E1C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108" y="4038829"/>
            <a:ext cx="1675586" cy="1772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A4A2C6-177D-22EE-E387-15F8F0E3D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" t="5210" r="1832" b="10029"/>
          <a:stretch/>
        </p:blipFill>
        <p:spPr>
          <a:xfrm>
            <a:off x="5379136" y="4003737"/>
            <a:ext cx="3340972" cy="17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2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E00F-C0E1-203B-794B-1C6C7CFF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087" y="149528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F711-3E47-255C-B38F-3E979294D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087" y="1299069"/>
            <a:ext cx="10989426" cy="3660774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robust multi-label classification models for fundus images that address the challenges of long-tail distribution.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Goals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robust pipeline for multi-label classification of ocular diseases using the ODIR dataset.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Incorporate Multi model architecture with hybrid losses to improve model’s accuracy.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3) Compare and evaluate the performance of various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including: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BCE-Hill Hybridization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Dice-BCE Hybridization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Demonstrate the model’s efficiency using ResNet101 as the backbone for feature extraction and classification.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E586B-E262-002B-9DE2-498F3FA9C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84" y="4217478"/>
            <a:ext cx="8798250" cy="221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0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4164-5C10-381D-D5B0-23A603065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" y="705021"/>
            <a:ext cx="3359727" cy="10064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DC5BF-6E79-5E13-0D56-F3CA5F342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20" y="813505"/>
            <a:ext cx="3894398" cy="89799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AutoNum type="arabicParenR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7E91371-FF34-12C1-0818-55D7054B6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196" y="252167"/>
            <a:ext cx="2557516" cy="635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89F5A1FB-A4AF-40CD-E4DD-6B9AD6D6B1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799" y="3952515"/>
            <a:ext cx="2952161" cy="295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840BD17-183F-39A5-0F35-4CCC2EBF1A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5ABC0D8-7589-E301-EB14-CF479FA7F8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95DDA231-5E0F-36D2-DECC-3C049BB0B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819" y="1937326"/>
            <a:ext cx="847533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Fundus images from the ODIR-5K dataset were resized, normalized, label-encoded for eight diseases, and augmented (rotation, flipping, jittering) to boost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 (VGG16, InceptionV3, ResNet50, ResNet101) were evaluated; ResNet101, fine-tuned from    ImageNet with sigmoid outputs, was selected for its superior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 Implementation: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BCE, Weighted BCE, Dice, Hill, and hybrid losses to tackle class imbalance and enhance rare disease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Strategy: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were optimized using Adam with early stopping, learning rate scheduling, and stratified sampling for balanced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was measured using accuracy, macro/micro precision, recall, F1-score, and confusion matrices, emphasizing sensitivity to rare classes.</a:t>
            </a:r>
          </a:p>
        </p:txBody>
      </p:sp>
    </p:spTree>
    <p:extLst>
      <p:ext uri="{BB962C8B-B14F-4D97-AF65-F5344CB8AC3E}">
        <p14:creationId xmlns:p14="http://schemas.microsoft.com/office/powerpoint/2010/main" val="178137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73BEA09-BC33-B8D8-196A-597725D2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573" y="1709065"/>
            <a:ext cx="8866824" cy="400792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FCC2E0-577D-747F-8976-DD1A7CD132CE}"/>
              </a:ext>
            </a:extLst>
          </p:cNvPr>
          <p:cNvSpPr/>
          <p:nvPr/>
        </p:nvSpPr>
        <p:spPr>
          <a:xfrm>
            <a:off x="1373171" y="1510748"/>
            <a:ext cx="8925627" cy="4516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92B1BA-763A-63ED-38E0-8900299B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021" y="504273"/>
            <a:ext cx="3359727" cy="10064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056930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0D83-BA07-0C4F-94F4-FE5E0211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86" y="93071"/>
            <a:ext cx="9782694" cy="8890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B6215-32E9-6474-93A3-BE9F9AC26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325" y="2663054"/>
            <a:ext cx="6623858" cy="3946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A821C7-6392-9136-3CE8-4E27BCA4A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938" y="992218"/>
            <a:ext cx="7446820" cy="14345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15580D-D518-0C9F-7FA5-387AFBE77B0D}"/>
              </a:ext>
            </a:extLst>
          </p:cNvPr>
          <p:cNvSpPr txBox="1"/>
          <p:nvPr/>
        </p:nvSpPr>
        <p:spPr>
          <a:xfrm>
            <a:off x="1207809" y="1267964"/>
            <a:ext cx="3042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 : Data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9BB01D-868E-F381-89BF-0B498683FBA9}"/>
              </a:ext>
            </a:extLst>
          </p:cNvPr>
          <p:cNvSpPr txBox="1"/>
          <p:nvPr/>
        </p:nvSpPr>
        <p:spPr>
          <a:xfrm>
            <a:off x="1062951" y="4636111"/>
            <a:ext cx="3318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 : Building Backbone of Model using ResNet101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0CD2DB-6237-0865-2081-F1A96B1C6D1B}"/>
              </a:ext>
            </a:extLst>
          </p:cNvPr>
          <p:cNvSpPr txBox="1"/>
          <p:nvPr/>
        </p:nvSpPr>
        <p:spPr>
          <a:xfrm>
            <a:off x="827267" y="2122923"/>
            <a:ext cx="32334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Hyper-Parameters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 : 30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: 0.001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: 40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size : 0.2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 size : [224,224,3</a:t>
            </a:r>
            <a:r>
              <a:rPr lang="en-IN" dirty="0"/>
              <a:t>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7EC821-3E2A-A5D8-F496-1044C8672A60}"/>
              </a:ext>
            </a:extLst>
          </p:cNvPr>
          <p:cNvSpPr/>
          <p:nvPr/>
        </p:nvSpPr>
        <p:spPr>
          <a:xfrm>
            <a:off x="745067" y="2023533"/>
            <a:ext cx="3505200" cy="2142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D3AA3-E3CD-528D-4F3E-3CC0095C4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325" y="2663054"/>
            <a:ext cx="6623858" cy="394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1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1232E8-9739-DB2D-CEF0-02D38ABB2EC1}"/>
              </a:ext>
            </a:extLst>
          </p:cNvPr>
          <p:cNvSpPr txBox="1"/>
          <p:nvPr/>
        </p:nvSpPr>
        <p:spPr>
          <a:xfrm>
            <a:off x="3257865" y="888043"/>
            <a:ext cx="4059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III : Different Network Comparison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6BBDC6-D338-5CFC-8859-2E3FC5FEB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4" y="1435346"/>
            <a:ext cx="5855636" cy="37402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70F85F-4B41-3729-A4D5-5FDACF3B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310" y="1435346"/>
            <a:ext cx="6233016" cy="371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3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80F339-F3DF-E9F9-CFB7-69A60DD16501}"/>
              </a:ext>
            </a:extLst>
          </p:cNvPr>
          <p:cNvSpPr txBox="1"/>
          <p:nvPr/>
        </p:nvSpPr>
        <p:spPr>
          <a:xfrm>
            <a:off x="3530379" y="9676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IV : Hybridization of loss 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A9A153-6709-8587-F46A-56D1F039C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683218"/>
              </p:ext>
            </p:extLst>
          </p:nvPr>
        </p:nvGraphicFramePr>
        <p:xfrm>
          <a:off x="406402" y="1493520"/>
          <a:ext cx="11379195" cy="44728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4355">
                  <a:extLst>
                    <a:ext uri="{9D8B030D-6E8A-4147-A177-3AD203B41FA5}">
                      <a16:colId xmlns:a16="http://schemas.microsoft.com/office/drawing/2014/main" val="4290588210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1889813430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774706263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1005285034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186341599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1677392849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779192696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2770652739"/>
                    </a:ext>
                  </a:extLst>
                </a:gridCol>
                <a:gridCol w="1264355">
                  <a:extLst>
                    <a:ext uri="{9D8B030D-6E8A-4147-A177-3AD203B41FA5}">
                      <a16:colId xmlns:a16="http://schemas.microsoft.com/office/drawing/2014/main" val="1414928796"/>
                    </a:ext>
                  </a:extLst>
                </a:gridCol>
              </a:tblGrid>
              <a:tr h="9577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BCE 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BCE 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Hill Loss 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Dice Loss 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BCE + Hill 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Dice + Hill </a:t>
                      </a:r>
                    </a:p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Trainable Params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Dropout Rate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7068204"/>
                  </a:ext>
                </a:extLst>
              </a:tr>
              <a:tr h="8787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~15 Million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8912881"/>
                  </a:ext>
                </a:extLst>
              </a:tr>
              <a:tr h="8787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InceptionV3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52%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~23 Million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8863972"/>
                  </a:ext>
                </a:extLst>
              </a:tr>
              <a:tr h="8787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~25 Million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9266269"/>
                  </a:ext>
                </a:extLst>
              </a:tr>
              <a:tr h="8787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ResNet101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62%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~44 Million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3780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8223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615C064-8152-FF2E-9B16-D8ABC9943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342063"/>
              </p:ext>
            </p:extLst>
          </p:nvPr>
        </p:nvGraphicFramePr>
        <p:xfrm>
          <a:off x="595976" y="1788160"/>
          <a:ext cx="10681623" cy="4358640"/>
        </p:xfrm>
        <a:graphic>
          <a:graphicData uri="http://schemas.openxmlformats.org/drawingml/2006/table">
            <a:tbl>
              <a:tblPr/>
              <a:tblGrid>
                <a:gridCol w="3560541">
                  <a:extLst>
                    <a:ext uri="{9D8B030D-6E8A-4147-A177-3AD203B41FA5}">
                      <a16:colId xmlns:a16="http://schemas.microsoft.com/office/drawing/2014/main" val="2152143236"/>
                    </a:ext>
                  </a:extLst>
                </a:gridCol>
                <a:gridCol w="3560541">
                  <a:extLst>
                    <a:ext uri="{9D8B030D-6E8A-4147-A177-3AD203B41FA5}">
                      <a16:colId xmlns:a16="http://schemas.microsoft.com/office/drawing/2014/main" val="3412240280"/>
                    </a:ext>
                  </a:extLst>
                </a:gridCol>
                <a:gridCol w="3560541">
                  <a:extLst>
                    <a:ext uri="{9D8B030D-6E8A-4147-A177-3AD203B41FA5}">
                      <a16:colId xmlns:a16="http://schemas.microsoft.com/office/drawing/2014/main" val="3374501261"/>
                    </a:ext>
                  </a:extLst>
                </a:gridCol>
              </a:tblGrid>
              <a:tr h="308035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292258"/>
                  </a:ext>
                </a:extLst>
              </a:tr>
              <a:tr h="811424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Noisy or Low-Quality Data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ODIR-5K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 contains blurry, poorly labeled, or inconsistent images, making it hard for models to generalize.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preprocessing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techniques (e.g., normalization, augmentation).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958836"/>
                  </a:ext>
                </a:extLst>
              </a:tr>
              <a:tr h="811424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Suboptimal Learning Rate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too-high learning rate causes the model to oscillate or get stuck in local minima, leading to slow or poor convergence.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Hyperparameter tuning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especially careful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rate scheduling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239114"/>
                  </a:ext>
                </a:extLst>
              </a:tr>
              <a:tr h="811424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Stratified K-Fold Cross Validation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that each fold of the dataset maintains the same proportion of each class, improving generalization and robustness.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Stratified K-Fold CV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was used to get reliable and unbiased performance estimates.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286984"/>
                  </a:ext>
                </a:extLst>
              </a:tr>
              <a:tr h="811424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Trying Different Models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 CNN architectures have different capabilities in feature extraction and generalization.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Experimented with multiple models: </a:t>
                      </a: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ResNet101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InceptionV3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find the best fit for the data.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7888499"/>
                  </a:ext>
                </a:extLst>
              </a:tr>
              <a:tr h="804909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Imbalance (Long-Tail Problem)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Rare diseases have very few examples, leading to model bias towards frequent classes.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loss functions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oversampling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minority classes to balance learning.</a:t>
                      </a:r>
                    </a:p>
                  </a:txBody>
                  <a:tcPr marL="51185" marR="51185" marT="25592" marB="255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97842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D00724-808F-55F8-91DF-90C342F5F5EA}"/>
              </a:ext>
            </a:extLst>
          </p:cNvPr>
          <p:cNvSpPr txBox="1"/>
          <p:nvPr/>
        </p:nvSpPr>
        <p:spPr>
          <a:xfrm>
            <a:off x="392776" y="622848"/>
            <a:ext cx="94806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in Accuracy and Solutions</a:t>
            </a:r>
          </a:p>
        </p:txBody>
      </p:sp>
    </p:spTree>
    <p:extLst>
      <p:ext uri="{BB962C8B-B14F-4D97-AF65-F5344CB8AC3E}">
        <p14:creationId xmlns:p14="http://schemas.microsoft.com/office/powerpoint/2010/main" val="2540114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02F08B-AFFF-24E9-DFE7-5652C35F492B}"/>
              </a:ext>
            </a:extLst>
          </p:cNvPr>
          <p:cNvSpPr txBox="1"/>
          <p:nvPr/>
        </p:nvSpPr>
        <p:spPr>
          <a:xfrm>
            <a:off x="838200" y="419427"/>
            <a:ext cx="49840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Hybridization of Loss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73A565-3A8D-C7B0-E8F5-19C6F3C3E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134" y="2474824"/>
            <a:ext cx="3817426" cy="12553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F98A8A-6AEA-09FC-405D-5F84A0E35E47}"/>
              </a:ext>
            </a:extLst>
          </p:cNvPr>
          <p:cNvSpPr txBox="1"/>
          <p:nvPr/>
        </p:nvSpPr>
        <p:spPr>
          <a:xfrm>
            <a:off x="640080" y="3972253"/>
            <a:ext cx="972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Dice-BCE Hybrid Loss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Recall, ensures rare labels gets detected (works well for Medical Data).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choice for Imbalanced datasets.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690C2-1EA3-F1EB-4D6D-DF5FB0502DD5}"/>
              </a:ext>
            </a:extLst>
          </p:cNvPr>
          <p:cNvSpPr txBox="1"/>
          <p:nvPr/>
        </p:nvSpPr>
        <p:spPr>
          <a:xfrm>
            <a:off x="861637" y="1179861"/>
            <a:ext cx="8389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BCE-Hill Hybrid Loss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BCE ?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efficient and standard loss for multi-label classification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for independent labels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Why Hill Loss ?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to class-Imbalance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overconfidence on frequent labels.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EB2D38-2FE1-0275-B538-777FEB02C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235" y="4674137"/>
            <a:ext cx="44672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43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00A42-BAB4-1760-4D5E-66167CB8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D3271DA6-B9A2-E7A5-6325-B87FDAFEF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DB3FF1-4B6D-B940-79C6-0B9AD1023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4" t="6758" r="6067"/>
          <a:stretch/>
        </p:blipFill>
        <p:spPr>
          <a:xfrm>
            <a:off x="3051801" y="1561783"/>
            <a:ext cx="3623697" cy="45894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922557-73EE-BD30-157A-AE72AFA7A960}"/>
              </a:ext>
            </a:extLst>
          </p:cNvPr>
          <p:cNvSpPr txBox="1"/>
          <p:nvPr/>
        </p:nvSpPr>
        <p:spPr>
          <a:xfrm>
            <a:off x="3596598" y="915452"/>
            <a:ext cx="2499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Selected Image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Label : Glaucoma</a:t>
            </a:r>
          </a:p>
        </p:txBody>
      </p:sp>
    </p:spTree>
    <p:extLst>
      <p:ext uri="{BB962C8B-B14F-4D97-AF65-F5344CB8AC3E}">
        <p14:creationId xmlns:p14="http://schemas.microsoft.com/office/powerpoint/2010/main" val="2321066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039D4-7857-192F-C4FC-9403B9163261}"/>
              </a:ext>
            </a:extLst>
          </p:cNvPr>
          <p:cNvSpPr txBox="1"/>
          <p:nvPr/>
        </p:nvSpPr>
        <p:spPr>
          <a:xfrm>
            <a:off x="770466" y="626533"/>
            <a:ext cx="36086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Extentions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E1BF2-DCFC-72C0-DD1D-3132D27F2A7A}"/>
              </a:ext>
            </a:extLst>
          </p:cNvPr>
          <p:cNvSpPr txBox="1"/>
          <p:nvPr/>
        </p:nvSpPr>
        <p:spPr>
          <a:xfrm flipV="1">
            <a:off x="1339785" y="2496610"/>
            <a:ext cx="154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295D829-F0FE-4D5F-8073-9BAE40A5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66" y="1272864"/>
            <a:ext cx="1019810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Improving Model Accuracy:</a:t>
            </a: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Explore advanced architectures and hyperparameter tuning to enhance classification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Hybridization of Loss Functions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</a:t>
            </a: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and test hybrid loss functions combining the strengths of Weighted BCE, Focal Loss, and Hill Loss.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Trying Multiple Models: </a:t>
            </a: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tilized different CNN models for Accuracy improvement along with hybrid losses.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ResNet101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 Net16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I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nception V3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Research &amp; Publication: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hybrid loss functions prove effective, demonstrate results for publication in relevant medical AI journals.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Generalization to Other Medical Fields: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Adapt the model for multi-label classification tasks in other domains, such as detecting abnormalities in blood samples or other diagnostic imaging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84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DCA0-C711-B488-DCA0-B075C9F4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AACC3-CC9D-9AA7-D1B6-07AE0C04E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1486959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Deep Learning-Based Pipeline for the Detection of Multiple Ocular Diseases, Machine Learning and Computational Intelligence Techniques for Data Engineering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2022), May 16, 2023, DOI: 10.1007/978-981-99-0047-3_69.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Pre-Trained Deep Learning-Based Approaches for Eye Disease Detection, Pankaj Kumar, Sudhir Bhandari, Vishal Dutt, 2023 International Conference on Circuit Power and Computing Technologies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ICCPCT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August 2023, DOI: 10.1109/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ICCPCT58313.2023.10245175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An Efficient Deep Learning Model for Eye Disease Classification, Archana Saini, Kalpna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Guleria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Shagun Sharma, 2023 International Research Conference on Smart Computing and Systems Engineering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June 29, 2023, DOI: 10.1109/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SCSE59836.2023.10215000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Explainable Classification of Macular Degeneration Using Deep Learning, Sahil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Ankita Ghosh, Yogish S. Kamath, Neetha I.R.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Kuzhuppilly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R. Harish Kumar, Manipal Academy of Higher Education, published online at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researcher.manipal.edu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 Structure-Fusion Network for Medical Image Classification, Fuli Wu, Wei Yuan, Pengyi Hao,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Shuyuan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Tian, IEEE International Conference on Image Processing (ICIP) 2023, October 9, 2023, available at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resourcecenter.ieee.org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794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</TotalTime>
  <Words>1367</Words>
  <Application>Microsoft Office PowerPoint</Application>
  <PresentationFormat>Widescreen</PresentationFormat>
  <Paragraphs>153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Aparajita</vt:lpstr>
      <vt:lpstr>Arial</vt:lpstr>
      <vt:lpstr>Bell MT</vt:lpstr>
      <vt:lpstr>Calibri</vt:lpstr>
      <vt:lpstr>Calibri Light</vt:lpstr>
      <vt:lpstr>Devanagari</vt:lpstr>
      <vt:lpstr>Nirmala UI</vt:lpstr>
      <vt:lpstr>Times New Roman</vt:lpstr>
      <vt:lpstr>Wingdings</vt:lpstr>
      <vt:lpstr>Office Theme</vt:lpstr>
      <vt:lpstr>Project Title:  Improving Multi-Label Deep Learning models for classes with Long Tail Distribution   Supervisor &amp; Mentor : Dr. K. S. Phani Krishna    Presented by:  K Abhishek Raj (521143) Prashant Mishra (521218) Rakesh Yamjala (521260) Sandeep K Aazad (521230) </vt:lpstr>
      <vt:lpstr>PowerPoint Presentation</vt:lpstr>
      <vt:lpstr>Problem Statement</vt:lpstr>
      <vt:lpstr>Dataset</vt:lpstr>
      <vt:lpstr>Objectives</vt:lpstr>
      <vt:lpstr>Methodology</vt:lpstr>
      <vt:lpstr>Methodology</vt:lpstr>
      <vt:lpstr>Model Implementation</vt:lpstr>
      <vt:lpstr>PowerPoint Presentation</vt:lpstr>
      <vt:lpstr>PowerPoint Presentation</vt:lpstr>
      <vt:lpstr>PowerPoint Presentation</vt:lpstr>
      <vt:lpstr>PowerPoint Presentation</vt:lpstr>
      <vt:lpstr>Outcome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Mishra</dc:creator>
  <cp:lastModifiedBy>Y Rakesh</cp:lastModifiedBy>
  <cp:revision>52</cp:revision>
  <dcterms:created xsi:type="dcterms:W3CDTF">2024-10-04T20:10:01Z</dcterms:created>
  <dcterms:modified xsi:type="dcterms:W3CDTF">2025-04-28T15:05:10Z</dcterms:modified>
</cp:coreProperties>
</file>